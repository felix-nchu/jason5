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380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5483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28.png"/><Relationship Id="rId5" Type="http://schemas.openxmlformats.org/officeDocument/2006/relationships/image" Target="../media/image10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9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18" Type="http://schemas.openxmlformats.org/officeDocument/2006/relationships/image" Target="../media/image51.png"/><Relationship Id="rId26" Type="http://schemas.openxmlformats.org/officeDocument/2006/relationships/image" Target="../media/image59.png"/><Relationship Id="rId3" Type="http://schemas.openxmlformats.org/officeDocument/2006/relationships/image" Target="../media/image36.png"/><Relationship Id="rId21" Type="http://schemas.openxmlformats.org/officeDocument/2006/relationships/image" Target="../media/image54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5" Type="http://schemas.openxmlformats.org/officeDocument/2006/relationships/image" Target="../media/image5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9.png"/><Relationship Id="rId20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24" Type="http://schemas.openxmlformats.org/officeDocument/2006/relationships/image" Target="../media/image57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23" Type="http://schemas.openxmlformats.org/officeDocument/2006/relationships/image" Target="../media/image56.png"/><Relationship Id="rId10" Type="http://schemas.openxmlformats.org/officeDocument/2006/relationships/image" Target="../media/image43.png"/><Relationship Id="rId19" Type="http://schemas.openxmlformats.org/officeDocument/2006/relationships/image" Target="../media/image52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Relationship Id="rId22" Type="http://schemas.openxmlformats.org/officeDocument/2006/relationships/image" Target="../media/image55.png"/><Relationship Id="rId27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67.png"/><Relationship Id="rId18" Type="http://schemas.openxmlformats.org/officeDocument/2006/relationships/image" Target="../media/image72.png"/><Relationship Id="rId26" Type="http://schemas.openxmlformats.org/officeDocument/2006/relationships/image" Target="../media/image80.png"/><Relationship Id="rId3" Type="http://schemas.openxmlformats.org/officeDocument/2006/relationships/image" Target="../media/image1.png"/><Relationship Id="rId21" Type="http://schemas.openxmlformats.org/officeDocument/2006/relationships/image" Target="../media/image75.png"/><Relationship Id="rId7" Type="http://schemas.openxmlformats.org/officeDocument/2006/relationships/image" Target="../media/image62.png"/><Relationship Id="rId12" Type="http://schemas.openxmlformats.org/officeDocument/2006/relationships/image" Target="../media/image66.png"/><Relationship Id="rId17" Type="http://schemas.openxmlformats.org/officeDocument/2006/relationships/image" Target="../media/image71.png"/><Relationship Id="rId25" Type="http://schemas.openxmlformats.org/officeDocument/2006/relationships/image" Target="../media/image7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0.png"/><Relationship Id="rId20" Type="http://schemas.openxmlformats.org/officeDocument/2006/relationships/image" Target="../media/image74.png"/><Relationship Id="rId29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11" Type="http://schemas.openxmlformats.org/officeDocument/2006/relationships/image" Target="../media/image65.png"/><Relationship Id="rId24" Type="http://schemas.openxmlformats.org/officeDocument/2006/relationships/image" Target="../media/image78.png"/><Relationship Id="rId5" Type="http://schemas.openxmlformats.org/officeDocument/2006/relationships/image" Target="../media/image60.png"/><Relationship Id="rId15" Type="http://schemas.openxmlformats.org/officeDocument/2006/relationships/image" Target="../media/image69.png"/><Relationship Id="rId23" Type="http://schemas.openxmlformats.org/officeDocument/2006/relationships/image" Target="../media/image77.png"/><Relationship Id="rId28" Type="http://schemas.openxmlformats.org/officeDocument/2006/relationships/image" Target="../media/image82.png"/><Relationship Id="rId10" Type="http://schemas.openxmlformats.org/officeDocument/2006/relationships/image" Target="../media/image64.png"/><Relationship Id="rId19" Type="http://schemas.openxmlformats.org/officeDocument/2006/relationships/image" Target="../media/image73.png"/><Relationship Id="rId31" Type="http://schemas.openxmlformats.org/officeDocument/2006/relationships/image" Target="../media/image85.png"/><Relationship Id="rId4" Type="http://schemas.openxmlformats.org/officeDocument/2006/relationships/image" Target="../media/image9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Relationship Id="rId22" Type="http://schemas.openxmlformats.org/officeDocument/2006/relationships/image" Target="../media/image76.png"/><Relationship Id="rId27" Type="http://schemas.openxmlformats.org/officeDocument/2006/relationships/image" Target="../media/image81.png"/><Relationship Id="rId30" Type="http://schemas.openxmlformats.org/officeDocument/2006/relationships/image" Target="../media/image8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png"/><Relationship Id="rId18" Type="http://schemas.openxmlformats.org/officeDocument/2006/relationships/image" Target="../media/image99.png"/><Relationship Id="rId3" Type="http://schemas.openxmlformats.org/officeDocument/2006/relationships/image" Target="../media/image1.png"/><Relationship Id="rId21" Type="http://schemas.openxmlformats.org/officeDocument/2006/relationships/image" Target="../media/image102.pn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17" Type="http://schemas.openxmlformats.org/officeDocument/2006/relationships/image" Target="../media/image9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97.png"/><Relationship Id="rId20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5" Type="http://schemas.openxmlformats.org/officeDocument/2006/relationships/image" Target="../media/image86.png"/><Relationship Id="rId15" Type="http://schemas.openxmlformats.org/officeDocument/2006/relationships/image" Target="../media/image96.png"/><Relationship Id="rId10" Type="http://schemas.openxmlformats.org/officeDocument/2006/relationships/image" Target="../media/image91.png"/><Relationship Id="rId19" Type="http://schemas.openxmlformats.org/officeDocument/2006/relationships/image" Target="../media/image100.png"/><Relationship Id="rId4" Type="http://schemas.openxmlformats.org/officeDocument/2006/relationships/image" Target="../media/image9.png"/><Relationship Id="rId9" Type="http://schemas.openxmlformats.org/officeDocument/2006/relationships/image" Target="../media/image90.png"/><Relationship Id="rId14" Type="http://schemas.openxmlformats.org/officeDocument/2006/relationships/image" Target="../media/image95.png"/><Relationship Id="rId22" Type="http://schemas.openxmlformats.org/officeDocument/2006/relationships/image" Target="../media/image10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image" Target="../media/image114.png"/><Relationship Id="rId18" Type="http://schemas.openxmlformats.org/officeDocument/2006/relationships/image" Target="../media/image119.png"/><Relationship Id="rId3" Type="http://schemas.openxmlformats.org/officeDocument/2006/relationships/image" Target="../media/image104.png"/><Relationship Id="rId21" Type="http://schemas.openxmlformats.org/officeDocument/2006/relationships/image" Target="../media/image122.png"/><Relationship Id="rId7" Type="http://schemas.openxmlformats.org/officeDocument/2006/relationships/image" Target="../media/image108.png"/><Relationship Id="rId12" Type="http://schemas.openxmlformats.org/officeDocument/2006/relationships/image" Target="../media/image113.png"/><Relationship Id="rId17" Type="http://schemas.openxmlformats.org/officeDocument/2006/relationships/image" Target="../media/image11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17.png"/><Relationship Id="rId20" Type="http://schemas.openxmlformats.org/officeDocument/2006/relationships/image" Target="../media/image1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7.png"/><Relationship Id="rId11" Type="http://schemas.openxmlformats.org/officeDocument/2006/relationships/image" Target="../media/image112.png"/><Relationship Id="rId5" Type="http://schemas.openxmlformats.org/officeDocument/2006/relationships/image" Target="../media/image106.png"/><Relationship Id="rId15" Type="http://schemas.openxmlformats.org/officeDocument/2006/relationships/image" Target="../media/image116.png"/><Relationship Id="rId10" Type="http://schemas.openxmlformats.org/officeDocument/2006/relationships/image" Target="../media/image111.png"/><Relationship Id="rId19" Type="http://schemas.openxmlformats.org/officeDocument/2006/relationships/image" Target="../media/image120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Relationship Id="rId14" Type="http://schemas.openxmlformats.org/officeDocument/2006/relationships/image" Target="../media/image115.png"/><Relationship Id="rId22" Type="http://schemas.openxmlformats.org/officeDocument/2006/relationships/image" Target="../media/image1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0" y="0"/>
            <a:ext cx="2857500" cy="2857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500" y="0"/>
            <a:ext cx="2857500" cy="2857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429250"/>
            <a:ext cx="1428750" cy="1905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" y="4953000"/>
            <a:ext cx="1428750" cy="14287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3011686"/>
            <a:ext cx="952500" cy="38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87100" y="62865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20500" y="6286500"/>
            <a:ext cx="152400" cy="152400"/>
          </a:xfrm>
          <a:prstGeom prst="rect">
            <a:avLst/>
          </a:prstGeom>
        </p:spPr>
      </p:pic>
      <p:sp>
        <p:nvSpPr>
          <p:cNvPr id="13" name="Text 1"/>
          <p:cNvSpPr/>
          <p:nvPr/>
        </p:nvSpPr>
        <p:spPr>
          <a:xfrm>
            <a:off x="609600" y="2341215"/>
            <a:ext cx="11850588" cy="594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zh-TW" altLang="en-US" sz="3900" b="1" dirty="0">
                <a:solidFill>
                  <a:srgbClr val="1F2937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語音陪伴</a:t>
            </a:r>
            <a:r>
              <a:rPr lang="en-US" sz="3900" b="1" dirty="0">
                <a:solidFill>
                  <a:srgbClr val="1F2937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：AI 成為你的情緒教練</a:t>
            </a:r>
            <a:endParaRPr lang="en-US" sz="39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" name="Text 2"/>
          <p:cNvSpPr/>
          <p:nvPr/>
        </p:nvSpPr>
        <p:spPr>
          <a:xfrm>
            <a:off x="609600" y="3278386"/>
            <a:ext cx="11850588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250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一套客製化語音陪伴與學習激勵雲端系統</a:t>
            </a:r>
            <a:endParaRPr lang="en-US" sz="22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" name="Text 3"/>
          <p:cNvSpPr/>
          <p:nvPr/>
        </p:nvSpPr>
        <p:spPr>
          <a:xfrm>
            <a:off x="609600" y="3983236"/>
            <a:ext cx="987549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34D399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透過AI技術解決現代社會情感匱乏問題</a:t>
            </a:r>
            <a:endParaRPr lang="en-US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285750"/>
            <a:ext cx="762000" cy="762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523875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8800" y="1028700"/>
            <a:ext cx="9144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371600"/>
            <a:ext cx="5378648" cy="42767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1638300"/>
            <a:ext cx="171450" cy="228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2667000"/>
            <a:ext cx="4921448" cy="1143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54948" y="1409700"/>
            <a:ext cx="228600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54948" y="1866900"/>
            <a:ext cx="5365552" cy="105727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97823" y="2109788"/>
            <a:ext cx="571500" cy="571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69273" y="2281238"/>
            <a:ext cx="228600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54948" y="3114675"/>
            <a:ext cx="5365552" cy="128587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97823" y="3471863"/>
            <a:ext cx="571500" cy="571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69273" y="3643313"/>
            <a:ext cx="228600" cy="228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54948" y="4591050"/>
            <a:ext cx="5365552" cy="105727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97823" y="4833938"/>
            <a:ext cx="571500" cy="571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69273" y="5005388"/>
            <a:ext cx="228600" cy="2286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381000" y="5334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提案動機與目的</a:t>
            </a:r>
            <a:endParaRPr lang="en-US" sz="27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1" name="Text 1"/>
          <p:cNvSpPr/>
          <p:nvPr/>
        </p:nvSpPr>
        <p:spPr>
          <a:xfrm>
            <a:off x="1085850" y="1600200"/>
            <a:ext cx="492144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背景動機</a:t>
            </a:r>
            <a:endParaRPr lang="en-US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2" name="Text 2"/>
          <p:cNvSpPr/>
          <p:nvPr/>
        </p:nvSpPr>
        <p:spPr>
          <a:xfrm>
            <a:off x="800100" y="2057400"/>
            <a:ext cx="492144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在科技高度發展的現代社會中，儘管資訊交流日益便捷，許多人仍普遍面臨情感匱乏與孤獨感。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3" name="Text 3"/>
          <p:cNvSpPr/>
          <p:nvPr/>
        </p:nvSpPr>
        <p:spPr>
          <a:xfrm>
            <a:off x="952500" y="2667000"/>
            <a:ext cx="476904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現有心理支持服務的問題：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4" name="Text 4"/>
          <p:cNvSpPr/>
          <p:nvPr/>
        </p:nvSpPr>
        <p:spPr>
          <a:xfrm>
            <a:off x="952500" y="2971800"/>
            <a:ext cx="572285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被動性與短暫性：多數心理支持服務是被動提供且持續時間有限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5" name="Text 5"/>
          <p:cNvSpPr/>
          <p:nvPr/>
        </p:nvSpPr>
        <p:spPr>
          <a:xfrm>
            <a:off x="952500" y="3276600"/>
            <a:ext cx="572285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缺乏個人化：通常缺乏針對個人情感記憶與偏好的客製化設計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6" name="Text 6"/>
          <p:cNvSpPr/>
          <p:nvPr/>
        </p:nvSpPr>
        <p:spPr>
          <a:xfrm>
            <a:off x="952500" y="3581400"/>
            <a:ext cx="572285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逝去親人聲音的懷念：市場上缺乏能重現並互動的管道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7" name="Text 7"/>
          <p:cNvSpPr/>
          <p:nvPr/>
        </p:nvSpPr>
        <p:spPr>
          <a:xfrm>
            <a:off x="6597848" y="1371600"/>
            <a:ext cx="536555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核心目的</a:t>
            </a:r>
            <a:endParaRPr lang="en-US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8" name="Text 8"/>
          <p:cNvSpPr/>
          <p:nvPr/>
        </p:nvSpPr>
        <p:spPr>
          <a:xfrm>
            <a:off x="7112198" y="2009775"/>
            <a:ext cx="436542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提供深度情感連結</a:t>
            </a:r>
            <a:endParaRPr lang="en-US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9" name="Text 9"/>
          <p:cNvSpPr/>
          <p:nvPr/>
        </p:nvSpPr>
        <p:spPr>
          <a:xfrm>
            <a:off x="7112198" y="2324100"/>
            <a:ext cx="4365427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運用AI語音模擬技術，為使用者建立具備「熟悉聲線」的數位陪伴者，填補現實生活中的情感空缺。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0" name="Text 10"/>
          <p:cNvSpPr/>
          <p:nvPr/>
        </p:nvSpPr>
        <p:spPr>
          <a:xfrm>
            <a:off x="7112198" y="3257550"/>
            <a:ext cx="436542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實現即時情緒支持</a:t>
            </a:r>
            <a:endParaRPr lang="en-US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7112198" y="3571875"/>
            <a:ext cx="4365427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結合情緒辨識與語言模型，針對使用者當下的語氣和情境（如疲憊、焦慮、考試前），提供個人化、溫暖且適當的語音鼓勵與回應。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2" name="Text 12"/>
          <p:cNvSpPr/>
          <p:nvPr/>
        </p:nvSpPr>
        <p:spPr>
          <a:xfrm>
            <a:off x="7112198" y="4733925"/>
            <a:ext cx="436542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構建安全監測機制</a:t>
            </a:r>
            <a:endParaRPr lang="en-US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3" name="Text 13"/>
          <p:cNvSpPr/>
          <p:nvPr/>
        </p:nvSpPr>
        <p:spPr>
          <a:xfrm>
            <a:off x="7112198" y="5048250"/>
            <a:ext cx="4365427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透過雲端平台，提供家人與專業心理師專屬帳號，可查閱情緒趨勢報告，實現即時關懷與預警，確保使用者心理健康。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4" name="Text 14"/>
          <p:cNvSpPr/>
          <p:nvPr/>
        </p:nvSpPr>
        <p:spPr>
          <a:xfrm>
            <a:off x="11514386" y="6438900"/>
            <a:ext cx="46647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2 / 7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285750"/>
            <a:ext cx="762000" cy="762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523875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8800" y="1028700"/>
            <a:ext cx="9144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790700"/>
            <a:ext cx="7213699" cy="1181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1981200"/>
            <a:ext cx="666750" cy="6667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5363" y="2181225"/>
            <a:ext cx="200025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3162300"/>
            <a:ext cx="7213699" cy="1181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3352800"/>
            <a:ext cx="666750" cy="6667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8688" y="3552825"/>
            <a:ext cx="333375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4533900"/>
            <a:ext cx="7213699" cy="1181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000" y="4724400"/>
            <a:ext cx="666750" cy="6667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2025" y="4924425"/>
            <a:ext cx="26670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13799" y="1790700"/>
            <a:ext cx="3606701" cy="3930997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13799" y="5035897"/>
            <a:ext cx="3606701" cy="6858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81000" y="5334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痛點分析</a:t>
            </a:r>
            <a:endParaRPr lang="en-US" sz="27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9" name="Text 1"/>
          <p:cNvSpPr/>
          <p:nvPr/>
        </p:nvSpPr>
        <p:spPr>
          <a:xfrm>
            <a:off x="-762000" y="1295400"/>
            <a:ext cx="1371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現有心理支持服務無法滿足現代社會人們的情感需求，主要存在以下三大痛點：</a:t>
            </a:r>
            <a:endParaRPr 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0" name="Text 2"/>
          <p:cNvSpPr/>
          <p:nvPr/>
        </p:nvSpPr>
        <p:spPr>
          <a:xfrm>
            <a:off x="1619250" y="1981200"/>
            <a:ext cx="597544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被動性與短暫性</a:t>
            </a:r>
            <a:endParaRPr lang="en-US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1" name="Text 3"/>
          <p:cNvSpPr/>
          <p:nvPr/>
        </p:nvSpPr>
        <p:spPr>
          <a:xfrm>
            <a:off x="1619250" y="2324100"/>
            <a:ext cx="597544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多數心理支持服務是被動提供且持續时间有限，難以滿足使用者即時且長期的情感需求。使用者無法在需要時立即獲得支持，服務結束後也缺乏持續的陪伴。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2" name="Text 4"/>
          <p:cNvSpPr/>
          <p:nvPr/>
        </p:nvSpPr>
        <p:spPr>
          <a:xfrm>
            <a:off x="1619250" y="3352800"/>
            <a:ext cx="597544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缺乏個人化</a:t>
            </a:r>
            <a:endParaRPr lang="en-US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3" name="Text 5"/>
          <p:cNvSpPr/>
          <p:nvPr/>
        </p:nvSpPr>
        <p:spPr>
          <a:xfrm>
            <a:off x="1619250" y="3695700"/>
            <a:ext cx="597544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現有服務通常缺乏針對個人情感記憶與偏好的客製化设计，無法提供符合使用者特定需求的支援，導致使用者感到不被理解或支持效果有限。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4" name="Text 6"/>
          <p:cNvSpPr/>
          <p:nvPr/>
        </p:nvSpPr>
        <p:spPr>
          <a:xfrm>
            <a:off x="1619250" y="4724400"/>
            <a:ext cx="597544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逝去親人聲音的懷念</a:t>
            </a:r>
            <a:endParaRPr lang="en-US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5" name="Text 7"/>
          <p:cNvSpPr/>
          <p:nvPr/>
        </p:nvSpPr>
        <p:spPr>
          <a:xfrm>
            <a:off x="1619250" y="5067300"/>
            <a:ext cx="597544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對於懷念逝去親人聲音的使用者而言，市場上缺乏一個能重現並互動的管道，以提供持續的心靈慰藉與動力，導致情感支持的斷裂。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6" name="Text 8"/>
          <p:cNvSpPr/>
          <p:nvPr/>
        </p:nvSpPr>
        <p:spPr>
          <a:xfrm>
            <a:off x="8166199" y="5188297"/>
            <a:ext cx="330190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現代社會中的情感匱乏問題日益嚴重，特別是學生與上班族族群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7" name="Text 9"/>
          <p:cNvSpPr/>
          <p:nvPr/>
        </p:nvSpPr>
        <p:spPr>
          <a:xfrm>
            <a:off x="11514386" y="6438900"/>
            <a:ext cx="52521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3 / 7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162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0"/>
            <a:ext cx="1905000" cy="1905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734050"/>
            <a:ext cx="1428750" cy="1905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876300"/>
            <a:ext cx="1219200" cy="3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638300"/>
            <a:ext cx="5143500" cy="1828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866900"/>
            <a:ext cx="28575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286000"/>
            <a:ext cx="3810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4003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2857500"/>
            <a:ext cx="3810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6750" y="2971800"/>
            <a:ext cx="1905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24500" y="2171700"/>
            <a:ext cx="1143000" cy="762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67500" y="1543050"/>
            <a:ext cx="5143500" cy="2019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0" y="1771650"/>
            <a:ext cx="285750" cy="228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0" y="2190750"/>
            <a:ext cx="3810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62775" y="2305050"/>
            <a:ext cx="17145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58000" y="2952750"/>
            <a:ext cx="381000" cy="381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72300" y="306705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1000" y="4191000"/>
            <a:ext cx="3657600" cy="11811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3400" y="4343400"/>
            <a:ext cx="381000" cy="381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6750" y="4457700"/>
            <a:ext cx="1143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267200" y="4191000"/>
            <a:ext cx="3657600" cy="11811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419600" y="4343400"/>
            <a:ext cx="381000" cy="381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533900" y="44577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53400" y="4191000"/>
            <a:ext cx="3657600" cy="11811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05800" y="4343400"/>
            <a:ext cx="381000" cy="3810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420100" y="4457700"/>
            <a:ext cx="152400" cy="152400"/>
          </a:xfrm>
          <a:prstGeom prst="rect">
            <a:avLst/>
          </a:prstGeom>
        </p:spPr>
      </p:pic>
      <p:sp>
        <p:nvSpPr>
          <p:cNvPr id="37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執行方向與系統架構</a:t>
            </a:r>
            <a:endParaRPr lang="en-US" sz="27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8" name="Text 1"/>
          <p:cNvSpPr/>
          <p:nvPr/>
        </p:nvSpPr>
        <p:spPr>
          <a:xfrm>
            <a:off x="971550" y="1828800"/>
            <a:ext cx="4762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前端應用</a:t>
            </a:r>
            <a:endParaRPr lang="en-US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9" name="Text 2"/>
          <p:cNvSpPr/>
          <p:nvPr/>
        </p:nvSpPr>
        <p:spPr>
          <a:xfrm>
            <a:off x="1066800" y="2286000"/>
            <a:ext cx="371921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語音上傳介面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0" name="Text 3"/>
          <p:cNvSpPr/>
          <p:nvPr/>
        </p:nvSpPr>
        <p:spPr>
          <a:xfrm>
            <a:off x="1066800" y="2514600"/>
            <a:ext cx="446305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提供使用者上傳用於訓練AI模型的錄音檔案，建立專屬的AI聲線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1" name="Text 4"/>
          <p:cNvSpPr/>
          <p:nvPr/>
        </p:nvSpPr>
        <p:spPr>
          <a:xfrm>
            <a:off x="1066800" y="2857500"/>
            <a:ext cx="385985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即時語音互動介面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2" name="Text 5"/>
          <p:cNvSpPr/>
          <p:nvPr/>
        </p:nvSpPr>
        <p:spPr>
          <a:xfrm>
            <a:off x="1066800" y="3086100"/>
            <a:ext cx="463182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實現使用者与AI之間雙向語音對話功能，提供流暢自然的互動體驗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3" name="Text 6"/>
          <p:cNvSpPr/>
          <p:nvPr/>
        </p:nvSpPr>
        <p:spPr>
          <a:xfrm>
            <a:off x="7258050" y="1733550"/>
            <a:ext cx="4762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後端雲端平台</a:t>
            </a:r>
            <a:endParaRPr lang="en-US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4" name="Text 7"/>
          <p:cNvSpPr/>
          <p:nvPr/>
        </p:nvSpPr>
        <p:spPr>
          <a:xfrm>
            <a:off x="7353300" y="2190750"/>
            <a:ext cx="4267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微服務與容器化部署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5" name="Text 8"/>
          <p:cNvSpPr/>
          <p:nvPr/>
        </p:nvSpPr>
        <p:spPr>
          <a:xfrm>
            <a:off x="7353300" y="2419350"/>
            <a:ext cx="4267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採用微服務架構與容器化技術（如Docker、Kubernetes），確保系統的高可用性與彈性擴展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6" name="Text 9"/>
          <p:cNvSpPr/>
          <p:nvPr/>
        </p:nvSpPr>
        <p:spPr>
          <a:xfrm>
            <a:off x="7353300" y="2952750"/>
            <a:ext cx="426005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安全性與穩定性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7" name="Text 10"/>
          <p:cNvSpPr/>
          <p:nvPr/>
        </p:nvSpPr>
        <p:spPr>
          <a:xfrm>
            <a:off x="7353300" y="3181350"/>
            <a:ext cx="51120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資料加密與金鑰管理、跨區域備援與自動故障切換，保障24/7不間斷服務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8" name="Text 11"/>
          <p:cNvSpPr/>
          <p:nvPr/>
        </p:nvSpPr>
        <p:spPr>
          <a:xfrm>
            <a:off x="1028700" y="4400550"/>
            <a:ext cx="16459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語音模型訓練服務</a:t>
            </a:r>
            <a:endParaRPr 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9" name="Text 12"/>
          <p:cNvSpPr/>
          <p:nvPr/>
        </p:nvSpPr>
        <p:spPr>
          <a:xfrm>
            <a:off x="533400" y="4838700"/>
            <a:ext cx="335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接收前端上傳的錄音，進行聲紋特徵分離、分析，並訓練生成專屬聲线的AI語音模型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0" name="Text 13"/>
          <p:cNvSpPr/>
          <p:nvPr/>
        </p:nvSpPr>
        <p:spPr>
          <a:xfrm>
            <a:off x="4914900" y="4400550"/>
            <a:ext cx="12344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情緒辨識模組</a:t>
            </a:r>
            <a:endParaRPr 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1" name="Text 14"/>
          <p:cNvSpPr/>
          <p:nvPr/>
        </p:nvSpPr>
        <p:spPr>
          <a:xfrm>
            <a:off x="4419600" y="4838700"/>
            <a:ext cx="335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分析使用者語音中的情緒特徵（如疲憊、焦慮、興奮等），為後續的回應提供情緒判斷依據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2" name="Text 15"/>
          <p:cNvSpPr/>
          <p:nvPr/>
        </p:nvSpPr>
        <p:spPr>
          <a:xfrm>
            <a:off x="8801100" y="4400550"/>
            <a:ext cx="16459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大型語言模型整合</a:t>
            </a:r>
            <a:endParaRPr 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3" name="Text 16"/>
          <p:cNvSpPr/>
          <p:nvPr/>
        </p:nvSpPr>
        <p:spPr>
          <a:xfrm>
            <a:off x="8305800" y="4838700"/>
            <a:ext cx="335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根據情緒辨識結果與對話內容，生成富有情感、人性化的文字回應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0" name="Text 23"/>
          <p:cNvSpPr/>
          <p:nvPr/>
        </p:nvSpPr>
        <p:spPr>
          <a:xfrm>
            <a:off x="11514386" y="6781800"/>
            <a:ext cx="67761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4 / 7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0"/>
            <a:ext cx="1905000" cy="1905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429250"/>
            <a:ext cx="1428750" cy="1905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0" y="323850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38800" y="1028700"/>
            <a:ext cx="914400" cy="38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1524000"/>
            <a:ext cx="3352800" cy="396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7400" y="1752600"/>
            <a:ext cx="762000" cy="762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24100" y="1981200"/>
            <a:ext cx="2286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0600" y="3733800"/>
            <a:ext cx="2895600" cy="38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0600" y="3733800"/>
            <a:ext cx="2171700" cy="38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81621" y="4152900"/>
            <a:ext cx="1313408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95921" y="4254500"/>
            <a:ext cx="133350" cy="1333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19600" y="1524000"/>
            <a:ext cx="3352800" cy="396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0" y="1752600"/>
            <a:ext cx="762000" cy="762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43600" y="1981200"/>
            <a:ext cx="3048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86834" y="3962400"/>
            <a:ext cx="1418183" cy="342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519737" y="4064000"/>
            <a:ext cx="104775" cy="1333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572125" y="4419600"/>
            <a:ext cx="1905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838825" y="4419600"/>
            <a:ext cx="104775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19800" y="4419600"/>
            <a:ext cx="1905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86500" y="4419600"/>
            <a:ext cx="104775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67475" y="4419600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077200" y="1524000"/>
            <a:ext cx="3352800" cy="396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372600" y="1752600"/>
            <a:ext cx="762000" cy="7620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601200" y="1981200"/>
            <a:ext cx="304800" cy="304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859292" y="3962400"/>
            <a:ext cx="1788616" cy="3429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42070" y="4060825"/>
            <a:ext cx="171450" cy="13335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448800" y="4419600"/>
            <a:ext cx="609600" cy="6096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625013" y="4572000"/>
            <a:ext cx="257175" cy="30480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381000" y="5334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核心功能亮點</a:t>
            </a:r>
            <a:endParaRPr lang="en-US" sz="27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4" name="Text 1"/>
          <p:cNvSpPr/>
          <p:nvPr/>
        </p:nvSpPr>
        <p:spPr>
          <a:xfrm>
            <a:off x="990600" y="2705100"/>
            <a:ext cx="2895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客製化聲線</a:t>
            </a:r>
            <a:endParaRPr lang="en-US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5" name="Text 2"/>
          <p:cNvSpPr/>
          <p:nvPr/>
        </p:nvSpPr>
        <p:spPr>
          <a:xfrm>
            <a:off x="990600" y="3162300"/>
            <a:ext cx="2895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使用者只需一鍵上傳錄音，系統即可生成專屬且具備記憶點的AI語音。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6" name="Text 3"/>
          <p:cNvSpPr/>
          <p:nvPr/>
        </p:nvSpPr>
        <p:spPr>
          <a:xfrm>
            <a:off x="1082531" y="3848100"/>
            <a:ext cx="271158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專屬AI聲線，提供獨一無二的陪伴體驗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7" name="Text 4"/>
          <p:cNvSpPr/>
          <p:nvPr/>
        </p:nvSpPr>
        <p:spPr>
          <a:xfrm>
            <a:off x="1655457" y="4229100"/>
            <a:ext cx="15760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15803D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 聲紋特徵記憶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8" name="Text 5"/>
          <p:cNvSpPr/>
          <p:nvPr/>
        </p:nvSpPr>
        <p:spPr>
          <a:xfrm>
            <a:off x="4648200" y="2705100"/>
            <a:ext cx="2895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情境化回應</a:t>
            </a:r>
            <a:endParaRPr lang="en-US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9" name="Text 6"/>
          <p:cNvSpPr/>
          <p:nvPr/>
        </p:nvSpPr>
        <p:spPr>
          <a:xfrm>
            <a:off x="4648200" y="3162300"/>
            <a:ext cx="2895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AI具備同理心與激勵機制，能根據使用者當下的情緒和情境，給予溫暖的安慰或適時的鼓勵。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0" name="Text 7"/>
          <p:cNvSpPr/>
          <p:nvPr/>
        </p:nvSpPr>
        <p:spPr>
          <a:xfrm>
            <a:off x="5245016" y="4048125"/>
            <a:ext cx="17018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E749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 情緒辨識與回應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1" name="Text 8"/>
          <p:cNvSpPr/>
          <p:nvPr/>
        </p:nvSpPr>
        <p:spPr>
          <a:xfrm>
            <a:off x="4895850" y="4610100"/>
            <a:ext cx="24003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例如：疲憊→安撫，考試前→激勵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2" name="Text 9"/>
          <p:cNvSpPr/>
          <p:nvPr/>
        </p:nvSpPr>
        <p:spPr>
          <a:xfrm>
            <a:off x="8305800" y="2705100"/>
            <a:ext cx="2895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情緒報告分享</a:t>
            </a:r>
            <a:endParaRPr lang="en-US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3" name="Text 10"/>
          <p:cNvSpPr/>
          <p:nvPr/>
        </p:nvSpPr>
        <p:spPr>
          <a:xfrm>
            <a:off x="8305800" y="3162300"/>
            <a:ext cx="2895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系統提供專屬的情緒報告與互動趨勢儀表板，經使用者授權後，家人或專業心理师可查閱。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4" name="Text 11"/>
          <p:cNvSpPr/>
          <p:nvPr/>
        </p:nvSpPr>
        <p:spPr>
          <a:xfrm>
            <a:off x="8680430" y="4038600"/>
            <a:ext cx="21463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338C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 跨專業/家庭協同支持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5" name="Text 12"/>
          <p:cNvSpPr/>
          <p:nvPr/>
        </p:nvSpPr>
        <p:spPr>
          <a:xfrm>
            <a:off x="9113520" y="5067300"/>
            <a:ext cx="12801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實現即時關懷預警</a:t>
            </a:r>
            <a:endParaRPr lang="en-US"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6" name="Text 13"/>
          <p:cNvSpPr/>
          <p:nvPr/>
        </p:nvSpPr>
        <p:spPr>
          <a:xfrm>
            <a:off x="11514386" y="6438899"/>
            <a:ext cx="677614" cy="3090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5 / 7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953000"/>
            <a:ext cx="1905000" cy="2857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3250" y="5429250"/>
            <a:ext cx="1428750" cy="1905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8800" y="876300"/>
            <a:ext cx="9144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219200"/>
            <a:ext cx="5410200" cy="20383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1447800"/>
            <a:ext cx="4953000" cy="5524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1447800"/>
            <a:ext cx="476250" cy="476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9162" y="1590675"/>
            <a:ext cx="238125" cy="190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215265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249555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283845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1219200"/>
            <a:ext cx="5410200" cy="2038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1447800"/>
            <a:ext cx="4953000" cy="5524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1447800"/>
            <a:ext cx="476250" cy="4762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67488" y="1590675"/>
            <a:ext cx="219075" cy="190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215265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249555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283845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486150"/>
            <a:ext cx="5410200" cy="20383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3714750"/>
            <a:ext cx="4953000" cy="5524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0100" y="3714750"/>
            <a:ext cx="476250" cy="4762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2975" y="3857625"/>
            <a:ext cx="190500" cy="1905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0100" y="4419600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0100" y="476250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0100" y="510540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10300" y="3486150"/>
            <a:ext cx="5410200" cy="203835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3714750"/>
            <a:ext cx="4953000" cy="55245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38900" y="3714750"/>
            <a:ext cx="476250" cy="47625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67488" y="3857625"/>
            <a:ext cx="219075" cy="1905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38900" y="4419600"/>
            <a:ext cx="15240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38900" y="4762500"/>
            <a:ext cx="152400" cy="152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38900" y="5105400"/>
            <a:ext cx="152400" cy="152400"/>
          </a:xfrm>
          <a:prstGeom prst="rect">
            <a:avLst/>
          </a:prstGeom>
        </p:spPr>
      </p:pic>
      <p:sp>
        <p:nvSpPr>
          <p:cNvPr id="36" name="Text 1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成效預估</a:t>
            </a:r>
            <a:endParaRPr lang="en-US" sz="27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7" name="Text 2"/>
          <p:cNvSpPr/>
          <p:nvPr/>
        </p:nvSpPr>
        <p:spPr>
          <a:xfrm>
            <a:off x="1428750" y="1533525"/>
            <a:ext cx="19202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用戶參與度指標</a:t>
            </a:r>
            <a:endParaRPr lang="en-US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8" name="Text 3"/>
          <p:cNvSpPr/>
          <p:nvPr/>
        </p:nvSpPr>
        <p:spPr>
          <a:xfrm>
            <a:off x="1028700" y="2114550"/>
            <a:ext cx="46534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每日使用率目標：系統啟用後第1-4週期平均每日使用時數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9" name="Text 4"/>
          <p:cNvSpPr/>
          <p:nvPr/>
        </p:nvSpPr>
        <p:spPr>
          <a:xfrm>
            <a:off x="1028700" y="2457450"/>
            <a:ext cx="445073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使用者留存率：啟用後第30、60、90天的用戶留存比例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0" name="Text 5"/>
          <p:cNvSpPr/>
          <p:nvPr/>
        </p:nvSpPr>
        <p:spPr>
          <a:xfrm>
            <a:off x="1028700" y="2800350"/>
            <a:ext cx="43891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語音互動頻率：單日平均語音互動次數與對話持續時間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1" name="Text 6"/>
          <p:cNvSpPr/>
          <p:nvPr/>
        </p:nvSpPr>
        <p:spPr>
          <a:xfrm>
            <a:off x="7067550" y="1533525"/>
            <a:ext cx="16459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情緒改善指標</a:t>
            </a:r>
            <a:endParaRPr lang="en-US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2" name="Text 7"/>
          <p:cNvSpPr/>
          <p:nvPr/>
        </p:nvSpPr>
        <p:spPr>
          <a:xfrm>
            <a:off x="6667500" y="2114550"/>
            <a:ext cx="43891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焦慮程度降低：使用者自我報告與情緒辨識準確率比較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3" name="Text 8"/>
          <p:cNvSpPr/>
          <p:nvPr/>
        </p:nvSpPr>
        <p:spPr>
          <a:xfrm>
            <a:off x="6667500" y="2457450"/>
            <a:ext cx="3840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情緒波動頻率：負面情緒出現頻率與強度的變化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4" name="Text 9"/>
          <p:cNvSpPr/>
          <p:nvPr/>
        </p:nvSpPr>
        <p:spPr>
          <a:xfrm>
            <a:off x="6667500" y="2800350"/>
            <a:ext cx="42062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正向情緒指數：使用者在不同情境下的正向情緒反應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5" name="Text 10"/>
          <p:cNvSpPr/>
          <p:nvPr/>
        </p:nvSpPr>
        <p:spPr>
          <a:xfrm>
            <a:off x="1428750" y="3800475"/>
            <a:ext cx="16459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技術表現指標</a:t>
            </a:r>
            <a:endParaRPr lang="en-US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6" name="Text 11"/>
          <p:cNvSpPr/>
          <p:nvPr/>
        </p:nvSpPr>
        <p:spPr>
          <a:xfrm>
            <a:off x="1028700" y="4381500"/>
            <a:ext cx="456199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語音辨識準確率：AI對不同語境與語音特性的辨識精準度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7" name="Text 12"/>
          <p:cNvSpPr/>
          <p:nvPr/>
        </p:nvSpPr>
        <p:spPr>
          <a:xfrm>
            <a:off x="1028700" y="4724400"/>
            <a:ext cx="38304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回應延遲：使用者提出問題到AI回應的平均時間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8" name="Text 13"/>
          <p:cNvSpPr/>
          <p:nvPr/>
        </p:nvSpPr>
        <p:spPr>
          <a:xfrm>
            <a:off x="1028700" y="5067300"/>
            <a:ext cx="4023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系統可用性：系統正常運作時間與需要維護的頻率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9" name="Text 14"/>
          <p:cNvSpPr/>
          <p:nvPr/>
        </p:nvSpPr>
        <p:spPr>
          <a:xfrm>
            <a:off x="7067550" y="3800475"/>
            <a:ext cx="19202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用戶滿意度指標</a:t>
            </a:r>
            <a:endParaRPr lang="en-US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0" name="Text 15"/>
          <p:cNvSpPr/>
          <p:nvPr/>
        </p:nvSpPr>
        <p:spPr>
          <a:xfrm>
            <a:off x="6667500" y="4381500"/>
            <a:ext cx="41962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使用者滿意度評分：對AI陪伴體驗的整體滿意度回饋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1" name="Text 16"/>
          <p:cNvSpPr/>
          <p:nvPr/>
        </p:nvSpPr>
        <p:spPr>
          <a:xfrm>
            <a:off x="6667500" y="4724400"/>
            <a:ext cx="4023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功能使用滿意度：對各項功能的使用滿意度與建議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2" name="Text 17"/>
          <p:cNvSpPr/>
          <p:nvPr/>
        </p:nvSpPr>
        <p:spPr>
          <a:xfrm>
            <a:off x="6667500" y="5067300"/>
            <a:ext cx="3657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推薦意願：使用者向他人推薦系統的意願程度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3" name="Text 18"/>
          <p:cNvSpPr/>
          <p:nvPr/>
        </p:nvSpPr>
        <p:spPr>
          <a:xfrm>
            <a:off x="0" y="6324600"/>
            <a:ext cx="12192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4B556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以上指標將透過系統追蹤與定期調查收集數據，作為持續優化的依據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4" name="Text 19"/>
          <p:cNvSpPr/>
          <p:nvPr/>
        </p:nvSpPr>
        <p:spPr>
          <a:xfrm>
            <a:off x="11514386" y="6438900"/>
            <a:ext cx="59294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6 / 7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6009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0" y="0"/>
            <a:ext cx="2857500" cy="2857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743450"/>
            <a:ext cx="2857500" cy="3333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043880"/>
            <a:ext cx="952500" cy="3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310580"/>
            <a:ext cx="3454301" cy="23717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03375" y="1539180"/>
            <a:ext cx="666750" cy="6667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70063" y="1739205"/>
            <a:ext cx="333375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68701" y="1310580"/>
            <a:ext cx="3454450" cy="23717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62476" y="1539180"/>
            <a:ext cx="666750" cy="6667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62501" y="1739205"/>
            <a:ext cx="26670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27950" y="1310580"/>
            <a:ext cx="3454301" cy="23717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21726" y="1539180"/>
            <a:ext cx="666750" cy="6667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21751" y="1739205"/>
            <a:ext cx="266700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" y="4063305"/>
            <a:ext cx="5181600" cy="2667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5777805"/>
            <a:ext cx="1428899" cy="4953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15100" y="5892105"/>
            <a:ext cx="238125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82099" y="5777805"/>
            <a:ext cx="1562100" cy="4953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96399" y="5892105"/>
            <a:ext cx="190500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696599" y="5777805"/>
            <a:ext cx="1609725" cy="4953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810899" y="5892105"/>
            <a:ext cx="238125" cy="2667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609600" y="381000"/>
            <a:ext cx="10972800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總結與展望</a:t>
            </a:r>
            <a:endParaRPr lang="en-US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3" name="Text 1"/>
          <p:cNvSpPr/>
          <p:nvPr/>
        </p:nvSpPr>
        <p:spPr>
          <a:xfrm>
            <a:off x="1650950" y="2348805"/>
            <a:ext cx="137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個人化陪伴</a:t>
            </a:r>
            <a:endParaRPr lang="en-US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4" name="Text 2"/>
          <p:cNvSpPr/>
          <p:nvPr/>
        </p:nvSpPr>
        <p:spPr>
          <a:xfrm>
            <a:off x="838200" y="2767905"/>
            <a:ext cx="299710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透過AI語音模擬技術，為使用者建立具備「熟悉聲線」的數位陪伴者，填補現實生活中的情感空缺。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5" name="Text 3"/>
          <p:cNvSpPr/>
          <p:nvPr/>
        </p:nvSpPr>
        <p:spPr>
          <a:xfrm>
            <a:off x="5272891" y="2348805"/>
            <a:ext cx="16459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即時情緒支持</a:t>
            </a:r>
            <a:endParaRPr lang="en-US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6" name="Text 4"/>
          <p:cNvSpPr/>
          <p:nvPr/>
        </p:nvSpPr>
        <p:spPr>
          <a:xfrm>
            <a:off x="4597301" y="2767905"/>
            <a:ext cx="29972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結合情緒辨識與語言模型，針對使用者當下的語氣和情境，提供個人化、溫暖且适当的語音鼓勵與回應。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7" name="Text 5"/>
          <p:cNvSpPr/>
          <p:nvPr/>
        </p:nvSpPr>
        <p:spPr>
          <a:xfrm>
            <a:off x="9032141" y="2348805"/>
            <a:ext cx="16459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專業監測機制</a:t>
            </a:r>
            <a:endParaRPr lang="en-US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8" name="Text 6"/>
          <p:cNvSpPr/>
          <p:nvPr/>
        </p:nvSpPr>
        <p:spPr>
          <a:xfrm>
            <a:off x="8356550" y="2767905"/>
            <a:ext cx="299710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透過雲端平台，提供家人與專業心理師專屬帳號，可查閱情緒趨勢報告，實現即時關懷與預警。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9" name="Text 7"/>
          <p:cNvSpPr/>
          <p:nvPr/>
        </p:nvSpPr>
        <p:spPr>
          <a:xfrm>
            <a:off x="6400800" y="4520505"/>
            <a:ext cx="51816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2C55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未來展望</a:t>
            </a:r>
            <a:endParaRPr lang="en-US" sz="22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0" name="Text 8"/>
          <p:cNvSpPr/>
          <p:nvPr/>
        </p:nvSpPr>
        <p:spPr>
          <a:xfrm>
            <a:off x="6400800" y="5015805"/>
            <a:ext cx="5181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透過AI技術解決現代社会情感匱乏問題，我們的系統將持續發展，為更多人提供情感支持與心理健康保障。</a:t>
            </a:r>
            <a:endParaRPr lang="en-US" sz="1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1" name="Text 9"/>
          <p:cNvSpPr/>
          <p:nvPr/>
        </p:nvSpPr>
        <p:spPr>
          <a:xfrm>
            <a:off x="6867525" y="5892105"/>
            <a:ext cx="101744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AI情感陪護</a:t>
            </a:r>
            <a:endParaRPr 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2" name="Text 10"/>
          <p:cNvSpPr/>
          <p:nvPr/>
        </p:nvSpPr>
        <p:spPr>
          <a:xfrm>
            <a:off x="8401199" y="5892105"/>
            <a:ext cx="12344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情緒智能提升</a:t>
            </a:r>
            <a:endParaRPr 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3" name="Text 11"/>
          <p:cNvSpPr/>
          <p:nvPr/>
        </p:nvSpPr>
        <p:spPr>
          <a:xfrm>
            <a:off x="10163324" y="5892105"/>
            <a:ext cx="12344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家庭健康連結</a:t>
            </a:r>
            <a:endParaRPr 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6" name="Text 14"/>
          <p:cNvSpPr/>
          <p:nvPr/>
        </p:nvSpPr>
        <p:spPr>
          <a:xfrm>
            <a:off x="11514386" y="7181850"/>
            <a:ext cx="44054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Noto Sans TC" pitchFamily="34" charset="-120"/>
              </a:rPr>
              <a:t>7 / 7</a:t>
            </a:r>
            <a:endParaRPr 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330</Words>
  <Application>Microsoft Office PowerPoint</Application>
  <PresentationFormat>寬螢幕</PresentationFormat>
  <Paragraphs>99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0" baseType="lpstr">
      <vt:lpstr>標楷體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Anderson Chen</cp:lastModifiedBy>
  <cp:revision>4</cp:revision>
  <dcterms:created xsi:type="dcterms:W3CDTF">2025-11-05T14:50:17Z</dcterms:created>
  <dcterms:modified xsi:type="dcterms:W3CDTF">2025-11-05T14:59:21Z</dcterms:modified>
</cp:coreProperties>
</file>